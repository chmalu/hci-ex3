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6" r:id="rId6"/>
    <p:sldId id="267" r:id="rId7"/>
    <p:sldId id="271" r:id="rId8"/>
    <p:sldId id="268" r:id="rId9"/>
    <p:sldId id="269" r:id="rId10"/>
    <p:sldId id="272" r:id="rId11"/>
    <p:sldId id="270" r:id="rId12"/>
    <p:sldId id="273" r:id="rId13"/>
  </p:sldIdLst>
  <p:sldSz cx="12192000" cy="6858000"/>
  <p:notesSz cx="6858000" cy="9144000"/>
  <p:defaultTextStyle>
    <a:defPPr>
      <a:defRPr lang="en-A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3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992793-9FA3-5A8A-EEA0-4233D562C1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D310C36-088D-66B7-AF4A-A21DC8757D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489EC30-7A1C-6EC5-42CF-7ECE30FCF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102A2-02C5-4D7A-9B86-1F716B85DADA}" type="datetimeFigureOut">
              <a:rPr lang="en-AT" smtClean="0"/>
              <a:t>05/20/2026</a:t>
            </a:fld>
            <a:endParaRPr lang="en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2DC413F-5B62-1C50-CB52-7C00A89C8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76D323C-3A11-B30D-C781-D986B5F93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3D3A3-6E7C-47E3-85DD-D43E10E7A977}" type="slidenum">
              <a:rPr lang="en-AT" smtClean="0"/>
              <a:t>‹nr.›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146765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027BB7-D5BE-6483-0E09-BA76CCFDC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C991CBE-8124-16A8-B969-5556CA359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F9DF677-7BD6-7CC5-7421-3751A3E7F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102A2-02C5-4D7A-9B86-1F716B85DADA}" type="datetimeFigureOut">
              <a:rPr lang="en-AT" smtClean="0"/>
              <a:t>05/20/2026</a:t>
            </a:fld>
            <a:endParaRPr lang="en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60E252-6B42-D5A4-9DD4-E697557A5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C78E497-B4C2-B358-1A40-40F9B88A2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3D3A3-6E7C-47E3-85DD-D43E10E7A977}" type="slidenum">
              <a:rPr lang="en-AT" smtClean="0"/>
              <a:t>‹nr.›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496620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760449-4437-33AB-53CA-EE30DE048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6D5FD8F-B9F5-A2C2-06D4-34D3892370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DC84BF7-59B7-3056-8BD3-AB71982DE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102A2-02C5-4D7A-9B86-1F716B85DADA}" type="datetimeFigureOut">
              <a:rPr lang="en-AT" smtClean="0"/>
              <a:t>05/20/2026</a:t>
            </a:fld>
            <a:endParaRPr lang="en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34DE780-FB53-F0C9-0D28-E65C2F86A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EA62E15-5631-78B3-5324-5BADAE551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3D3A3-6E7C-47E3-85DD-D43E10E7A977}" type="slidenum">
              <a:rPr lang="en-AT" smtClean="0"/>
              <a:t>‹nr.›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597028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17A890-BC39-AA6F-D660-4DEBB4AF6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2E6FDF1-706B-5913-6DB1-64E163B76D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B131A98-6376-962A-E5DC-300D3F3CD7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22089C7-5751-2CC7-18D0-0D1480655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102A2-02C5-4D7A-9B86-1F716B85DADA}" type="datetimeFigureOut">
              <a:rPr lang="en-AT" smtClean="0"/>
              <a:t>05/20/2026</a:t>
            </a:fld>
            <a:endParaRPr lang="en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9BECF0F-1E8B-824A-5411-F35DAC298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314B2B9-2CAA-B0F5-52A6-F40C5758C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3D3A3-6E7C-47E3-85DD-D43E10E7A977}" type="slidenum">
              <a:rPr lang="en-AT" smtClean="0"/>
              <a:t>‹nr.›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48801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3C60AB-6E76-E6A5-62E6-C3EB02B16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EDE2AD4-524D-3EBA-C6BD-152A345F80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29B51E1-8FAB-5EDB-3FFE-B6C0E6C1EC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F211BD4-A7AB-D25E-F403-64CC6591AB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80E88F3-85D3-7DDF-A3AC-4377F21AB0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5B0D2C3-89C4-F84C-C76B-0DFF658CD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102A2-02C5-4D7A-9B86-1F716B85DADA}" type="datetimeFigureOut">
              <a:rPr lang="en-AT" smtClean="0"/>
              <a:t>05/20/2026</a:t>
            </a:fld>
            <a:endParaRPr lang="en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DC7727B-21F4-0905-DE81-5D5CD3249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27B2627-A4D8-E954-24B2-21E3C2B3F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3D3A3-6E7C-47E3-85DD-D43E10E7A977}" type="slidenum">
              <a:rPr lang="en-AT" smtClean="0"/>
              <a:t>‹nr.›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44728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CFE6E4-0E68-7FFF-1001-E8890D589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D63BC98-BEF0-9F39-9089-98948B26A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102A2-02C5-4D7A-9B86-1F716B85DADA}" type="datetimeFigureOut">
              <a:rPr lang="en-AT" smtClean="0"/>
              <a:t>05/20/2026</a:t>
            </a:fld>
            <a:endParaRPr lang="en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D125392-D870-0B4A-8702-1FF6B7A22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F3585C2-7862-3B1B-F84F-6BF4A0F57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3D3A3-6E7C-47E3-85DD-D43E10E7A977}" type="slidenum">
              <a:rPr lang="en-AT" smtClean="0"/>
              <a:t>‹nr.›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984746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5E58DB8-886C-822E-D5FA-44ED05FCE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102A2-02C5-4D7A-9B86-1F716B85DADA}" type="datetimeFigureOut">
              <a:rPr lang="en-AT" smtClean="0"/>
              <a:t>05/20/2026</a:t>
            </a:fld>
            <a:endParaRPr lang="en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913F686-3C27-8310-3F59-B75376B58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72064BB-B67E-3048-9BEA-62868D5F9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3D3A3-6E7C-47E3-85DD-D43E10E7A977}" type="slidenum">
              <a:rPr lang="en-AT" smtClean="0"/>
              <a:t>‹nr.›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95187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1DB24B-E469-429E-5BD7-40BBE8ECD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14BF5A3-2AEE-E602-651D-22558B7A7C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67BFBB3-CAAB-51AC-C465-E5246B10B2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2C6D1E4-9875-CF6D-2076-E50A09198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102A2-02C5-4D7A-9B86-1F716B85DADA}" type="datetimeFigureOut">
              <a:rPr lang="en-AT" smtClean="0"/>
              <a:t>05/20/2026</a:t>
            </a:fld>
            <a:endParaRPr lang="en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108AD34-EC45-E3C1-7E62-F1FD15CCD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F8903F4-A5D7-A6CD-4777-AC890E97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3D3A3-6E7C-47E3-85DD-D43E10E7A977}" type="slidenum">
              <a:rPr lang="en-AT" smtClean="0"/>
              <a:t>‹nr.›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929668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694019-8EB4-C8C2-2D24-0FAA3A4E7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A41D4AE-B609-CC52-F6BC-7763DD670F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AC64A19-3B33-51D4-FDF9-B1B9410F99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173D3C7-131A-DCD4-504C-0EB282700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102A2-02C5-4D7A-9B86-1F716B85DADA}" type="datetimeFigureOut">
              <a:rPr lang="en-AT" smtClean="0"/>
              <a:t>05/20/2026</a:t>
            </a:fld>
            <a:endParaRPr lang="en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FE23C5F-CF4A-FFE9-8099-BA3045BA0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1F5ABE9-9A03-1320-F136-314B0BE59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3D3A3-6E7C-47E3-85DD-D43E10E7A977}" type="slidenum">
              <a:rPr lang="en-AT" smtClean="0"/>
              <a:t>‹nr.›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871004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F03E1D-0C69-B340-CE00-3D8804B1F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57E1350-A886-DC43-412B-E90135D52A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A4180E5-9AD5-8422-CCCA-298CB9D5E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102A2-02C5-4D7A-9B86-1F716B85DADA}" type="datetimeFigureOut">
              <a:rPr lang="en-AT" smtClean="0"/>
              <a:t>05/20/2026</a:t>
            </a:fld>
            <a:endParaRPr lang="en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EEB32F-DEC3-8C96-73F4-6F0399853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B110B61-576B-1E9A-20AE-DB06FF2C4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3D3A3-6E7C-47E3-85DD-D43E10E7A977}" type="slidenum">
              <a:rPr lang="en-AT" smtClean="0"/>
              <a:t>‹nr.›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4018803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EBBB0A6-A02F-1294-0705-E900A0F85D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59082C4-1D90-604B-60D2-79128E3B7A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4D79635-4ABE-C7E4-B085-B0C0101AA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102A2-02C5-4D7A-9B86-1F716B85DADA}" type="datetimeFigureOut">
              <a:rPr lang="en-AT" smtClean="0"/>
              <a:t>05/20/2026</a:t>
            </a:fld>
            <a:endParaRPr lang="en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8910EC4-00D4-1667-AC06-AAEF9FF35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C8BC17B-0892-6524-6A82-2D0442B4E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3D3A3-6E7C-47E3-85DD-D43E10E7A977}" type="slidenum">
              <a:rPr lang="en-AT" smtClean="0"/>
              <a:t>‹nr.›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083342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2C113CC-FF88-C88A-EB1A-C88E0A247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8E70573-2EE7-D7E5-469B-0FA8D7670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696A93B-6675-2E75-B8BE-61DAADD4CC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5102A2-02C5-4D7A-9B86-1F716B85DADA}" type="datetimeFigureOut">
              <a:rPr lang="en-AT" smtClean="0"/>
              <a:t>05/20/2026</a:t>
            </a:fld>
            <a:endParaRPr lang="en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39FCB1E-8C62-A2B0-4512-51FD854A17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5E971AA-04E7-7F1C-44F0-2137DD4D89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E3D3A3-6E7C-47E3-85DD-D43E10E7A977}" type="slidenum">
              <a:rPr lang="en-AT" smtClean="0"/>
              <a:t>‹nr.›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482277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24384B-B513-0807-58AD-BBB65C7E4F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80744"/>
            <a:ext cx="9144000" cy="2129219"/>
          </a:xfrm>
        </p:spPr>
        <p:txBody>
          <a:bodyPr>
            <a:normAutofit/>
          </a:bodyPr>
          <a:lstStyle/>
          <a:p>
            <a:r>
              <a:rPr lang="en-US" sz="7200"/>
              <a:t>Thinking Aloud Test of </a:t>
            </a:r>
            <a:r>
              <a:rPr lang="en-US" sz="7200" dirty="0"/>
              <a:t>alza.at</a:t>
            </a:r>
            <a:endParaRPr lang="en-AT" sz="720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637B01C-FBED-6170-02A9-DA9C959D0F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335722"/>
          </a:xfrm>
        </p:spPr>
        <p:txBody>
          <a:bodyPr>
            <a:normAutofit/>
          </a:bodyPr>
          <a:lstStyle/>
          <a:p>
            <a:r>
              <a:rPr lang="en-US" sz="2200" dirty="0"/>
              <a:t>Luca Riedler, Sven Jansen, Dawid Chmal, Fabian Mehedincu (G1-09e)</a:t>
            </a:r>
          </a:p>
          <a:p>
            <a:r>
              <a:rPr lang="en-US" sz="2200" dirty="0"/>
              <a:t>Thu 21 May 2026, HCI SS 2026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BDBBA22-69EE-44E1-2DA2-F90174B62DE0}"/>
              </a:ext>
            </a:extLst>
          </p:cNvPr>
          <p:cNvSpPr txBox="1"/>
          <p:nvPr/>
        </p:nvSpPr>
        <p:spPr>
          <a:xfrm>
            <a:off x="1524000" y="556636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This work is placed under a Creative Commons Attribution 4.0 International (CC BY 4.0) </a:t>
            </a:r>
            <a:r>
              <a:rPr lang="en-US" sz="1600" dirty="0" err="1"/>
              <a:t>licence</a:t>
            </a:r>
            <a:r>
              <a:rPr lang="en-U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42995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87B8A1-C412-6712-F2A2-F6280C9F8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Evaluation Methodology</a:t>
            </a:r>
            <a:endParaRPr lang="en-AT" b="1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E53002C-FEC4-7745-D2E9-72DFFE62D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Heuristic evaluation based on Andrews General Usability Heuristics (2013)</a:t>
            </a:r>
          </a:p>
          <a:p>
            <a:r>
              <a:rPr lang="en-US" dirty="0"/>
              <a:t>Testing based on tasks that an average user may perform</a:t>
            </a:r>
          </a:p>
          <a:p>
            <a:r>
              <a:rPr lang="en-US" dirty="0"/>
              <a:t>Findings were gathered and rated individually</a:t>
            </a:r>
          </a:p>
          <a:p>
            <a:r>
              <a:rPr lang="en-US" dirty="0"/>
              <a:t>Final ranking was determined by the mean of all evaluator’s scores</a:t>
            </a:r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961864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D3268-AEAD-0EBC-C989-5FC8F388A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B7FDCE-E28A-7C97-92DA-1C808A129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Evaluation Environments</a:t>
            </a:r>
            <a:endParaRPr lang="en-AT" b="1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DD220C-4522-EF06-F6E6-43EC26E0F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Devices: 2 desktop PCs and 2 smartphones</a:t>
            </a:r>
          </a:p>
          <a:p>
            <a:r>
              <a:rPr lang="en-US" dirty="0"/>
              <a:t>Each device had one evaluator with and one without an ad blocker for comparison</a:t>
            </a:r>
          </a:p>
          <a:p>
            <a:r>
              <a:rPr lang="en-US" dirty="0"/>
              <a:t>Web Browsers: Chrome, Firefox and Samsung Browser</a:t>
            </a:r>
          </a:p>
          <a:p>
            <a:endParaRPr lang="en-US" dirty="0"/>
          </a:p>
          <a:p>
            <a:r>
              <a:rPr lang="en-US" dirty="0"/>
              <a:t>All Evaluators conducted the Evaluation on 2026-04-20 to minimize the risk of website changes</a:t>
            </a:r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2942461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71584FA-B1C4-8399-C9A3-BBC319695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Positive Finding </a:t>
            </a:r>
            <a:r>
              <a:rPr lang="en-US" sz="1800" b="1" dirty="0"/>
              <a:t>Mean: 3,25</a:t>
            </a:r>
            <a:endParaRPr lang="en-US" sz="3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B8F74734-1E49-7D70-0054-699067D7CD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1480" y="2684095"/>
            <a:ext cx="4443154" cy="3492868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800" b="1" dirty="0"/>
              <a:t>Option to compare Alternative products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1800" dirty="0"/>
              <a:t>Alternatives section with similar products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1800" dirty="0"/>
              <a:t>Users can compare alternatives with current product</a:t>
            </a:r>
          </a:p>
        </p:txBody>
      </p:sp>
      <p:pic>
        <p:nvPicPr>
          <p:cNvPr id="11" name="Inhaltsplatzhalter 10" descr="Ein Bild, das Text, Screenshot, Software, Computersymbol enthält.&#10;&#10;KI-generierte Inhalte können fehlerhaft sein.">
            <a:extLst>
              <a:ext uri="{FF2B5EF4-FFF2-40B4-BE49-F238E27FC236}">
                <a16:creationId xmlns:a16="http://schemas.microsoft.com/office/drawing/2014/main" id="{E3B4AA75-F542-DFA7-7246-F8724218EF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41502" y="1399032"/>
            <a:ext cx="7217664" cy="4059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006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1B0899-0E17-5EC3-2AD6-5D10F6A54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0A1CA56-C721-B088-B2C3-2080D68CD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CE9DDF0-F6BE-E467-30E0-3F0BBF65B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Positive Finding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Mean: 3,00</a:t>
            </a:r>
            <a:endParaRPr lang="en-US" sz="3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9EA643-855A-FD9F-8B09-187560BA4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A4C1090-96B3-BEEC-7582-5FECF0D03A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A65491D-A662-FC60-6039-C2BE81D167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1480" y="2684095"/>
            <a:ext cx="4443154" cy="3492868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800" b="1" dirty="0"/>
              <a:t>Price Drop Notification Feature</a:t>
            </a:r>
          </a:p>
          <a:p>
            <a:pPr marL="114300"/>
            <a:endParaRPr lang="en-US" sz="1800" dirty="0"/>
          </a:p>
          <a:p>
            <a:pPr marL="400050" indent="-285750">
              <a:buFont typeface="Arial" panose="020B0604020202020204" pitchFamily="34" charset="0"/>
              <a:buChar char="•"/>
            </a:pPr>
            <a:r>
              <a:rPr lang="en-US" sz="1800" dirty="0"/>
              <a:t>Option to set a price alert for a product</a:t>
            </a:r>
          </a:p>
          <a:p>
            <a:pPr marL="400050" indent="-285750">
              <a:buFont typeface="Arial" panose="020B0604020202020204" pitchFamily="34" charset="0"/>
              <a:buChar char="•"/>
            </a:pPr>
            <a:r>
              <a:rPr lang="en-US" sz="1800" dirty="0"/>
              <a:t>The User will be notified when the price drops below a certain price</a:t>
            </a:r>
          </a:p>
        </p:txBody>
      </p:sp>
      <p:pic>
        <p:nvPicPr>
          <p:cNvPr id="11" name="Inhaltsplatzhalter 10">
            <a:extLst>
              <a:ext uri="{FF2B5EF4-FFF2-40B4-BE49-F238E27FC236}">
                <a16:creationId xmlns:a16="http://schemas.microsoft.com/office/drawing/2014/main" id="{28D7EFCA-849B-F959-CB40-9CD2D0904E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41502" y="1399032"/>
            <a:ext cx="7217664" cy="4059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184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81EFB4-D5EE-A0B0-DD7A-D9F116FCF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21B8813-2C68-B952-CFE2-533F4A22F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139D6E9-6790-F032-316D-B4FE1FFF0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Negative Finding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Mean: 3,50</a:t>
            </a:r>
            <a:r>
              <a:rPr lang="en-US" sz="3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61206D6-66C6-549A-58C6-A917E2041B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D067294-F7A2-F626-118C-8B2800AF5D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39BFE837-29F0-D291-0093-361CDC05AD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1480" y="2684095"/>
            <a:ext cx="4443154" cy="3492868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800" b="1" dirty="0"/>
              <a:t>Wrong URL redirect</a:t>
            </a:r>
            <a:br>
              <a:rPr lang="en-US" sz="1800" dirty="0"/>
            </a:br>
            <a:endParaRPr lang="en-US" sz="1800" dirty="0"/>
          </a:p>
          <a:p>
            <a:pPr marL="400050" indent="-285750">
              <a:buFont typeface="Arial" panose="020B0604020202020204" pitchFamily="34" charset="0"/>
              <a:buChar char="•"/>
            </a:pPr>
            <a:r>
              <a:rPr lang="en-US" sz="1800" dirty="0"/>
              <a:t>Redirect link opens homepage instead of the desired page</a:t>
            </a:r>
          </a:p>
          <a:p>
            <a:pPr marL="400050" indent="-285750">
              <a:buFont typeface="Arial" panose="020B0604020202020204" pitchFamily="34" charset="0"/>
              <a:buChar char="•"/>
            </a:pPr>
            <a:r>
              <a:rPr lang="en-US" sz="1800" dirty="0"/>
              <a:t>Incorrect URL in FAQ links</a:t>
            </a:r>
          </a:p>
          <a:p>
            <a:pPr marL="114300"/>
            <a:endParaRPr lang="en-US" sz="1800" dirty="0"/>
          </a:p>
          <a:p>
            <a:pPr marL="400050" indent="-285750">
              <a:buFont typeface="Arial" panose="020B0604020202020204" pitchFamily="34" charset="0"/>
              <a:buChar char="•"/>
            </a:pPr>
            <a:r>
              <a:rPr lang="en-US" sz="1800" dirty="0"/>
              <a:t>Heuristic: A04 Consistency</a:t>
            </a:r>
          </a:p>
        </p:txBody>
      </p:sp>
      <p:pic>
        <p:nvPicPr>
          <p:cNvPr id="10" name="Inhaltsplatzhalter 9" descr="Ein Bild, das Text, Software, Multimedia-Software, Computersymbol enthält.&#10;&#10;KI-generierte Inhalte können fehlerhaft sein.">
            <a:extLst>
              <a:ext uri="{FF2B5EF4-FFF2-40B4-BE49-F238E27FC236}">
                <a16:creationId xmlns:a16="http://schemas.microsoft.com/office/drawing/2014/main" id="{FB1A20BD-2750-FC34-3390-D63ECFB240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4634" y="1394723"/>
            <a:ext cx="7217355" cy="4068554"/>
          </a:xfrm>
        </p:spPr>
      </p:pic>
    </p:spTree>
    <p:extLst>
      <p:ext uri="{BB962C8B-B14F-4D97-AF65-F5344CB8AC3E}">
        <p14:creationId xmlns:p14="http://schemas.microsoft.com/office/powerpoint/2010/main" val="667887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lr-neg08-url-misdirect">
            <a:hlinkClick r:id="" action="ppaction://media"/>
            <a:extLst>
              <a:ext uri="{FF2B5EF4-FFF2-40B4-BE49-F238E27FC236}">
                <a16:creationId xmlns:a16="http://schemas.microsoft.com/office/drawing/2014/main" id="{6401E700-A68C-C88A-17D7-B21E48ADAEFD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72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9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38AAE-57F3-C788-6F84-A29DCB704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9F4B2F-F2E0-C59E-A726-E7F372E72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Negative Finding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Mean: 3,50</a:t>
            </a:r>
            <a:endParaRPr lang="en-US" sz="3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CF92083F-BFC5-3B40-FAEB-2E7CF474CD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1480" y="2684095"/>
            <a:ext cx="4443154" cy="3492868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800" b="1" dirty="0"/>
              <a:t>Marketing Opt-Out Is On by Default      When Placing an Order</a:t>
            </a:r>
            <a:br>
              <a:rPr lang="en-US" sz="1800" dirty="0"/>
            </a:br>
            <a:endParaRPr lang="en-US" sz="1800" dirty="0"/>
          </a:p>
          <a:p>
            <a:pPr marL="400050" indent="-285750">
              <a:buFont typeface="Arial" panose="020B0604020202020204" pitchFamily="34" charset="0"/>
              <a:buChar char="•"/>
            </a:pPr>
            <a:r>
              <a:rPr lang="en-US" sz="1800" dirty="0"/>
              <a:t>Marketing emails are enabled by default</a:t>
            </a:r>
          </a:p>
          <a:p>
            <a:pPr marL="400050" indent="-285750">
              <a:buFont typeface="Arial" panose="020B0604020202020204" pitchFamily="34" charset="0"/>
              <a:buChar char="•"/>
            </a:pPr>
            <a:r>
              <a:rPr lang="en-US" sz="1800" dirty="0"/>
              <a:t>To avoid unwanted emails, the option must be manually disabled</a:t>
            </a:r>
          </a:p>
          <a:p>
            <a:pPr marL="4000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400050" indent="-285750">
              <a:buFont typeface="Arial" panose="020B0604020202020204" pitchFamily="34" charset="0"/>
              <a:buChar char="•"/>
            </a:pPr>
            <a:r>
              <a:rPr lang="en-US" sz="1800" dirty="0"/>
              <a:t>Heuristic: A05 Error Prevention</a:t>
            </a:r>
          </a:p>
          <a:p>
            <a:pPr marL="400050" indent="-285750">
              <a:buFont typeface="Arial" panose="020B0604020202020204" pitchFamily="34" charset="0"/>
              <a:buChar char="•"/>
            </a:pPr>
            <a:r>
              <a:rPr lang="en-US" sz="1800" dirty="0"/>
              <a:t>Only when: Not logged in</a:t>
            </a:r>
          </a:p>
        </p:txBody>
      </p:sp>
      <p:pic>
        <p:nvPicPr>
          <p:cNvPr id="11" name="Inhaltsplatzhalter 10">
            <a:extLst>
              <a:ext uri="{FF2B5EF4-FFF2-40B4-BE49-F238E27FC236}">
                <a16:creationId xmlns:a16="http://schemas.microsoft.com/office/drawing/2014/main" id="{CE0172CB-5595-77BC-3700-20F91D35B0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41502" y="1399032"/>
            <a:ext cx="7217664" cy="4059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270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B9379-8FB8-7385-502E-38ED84D5A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C30CC0-A832-D1FF-0EAD-DDDB0E71C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Negative Finding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Mean: 3,25</a:t>
            </a:r>
            <a:endParaRPr lang="en-US" sz="3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01C1313-6136-0416-B49C-5A47838A3B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1480" y="2684095"/>
            <a:ext cx="4443154" cy="3492868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800" b="1" dirty="0"/>
              <a:t>AlzaBox Button Does Nothing and Gives No Feedback</a:t>
            </a:r>
            <a:br>
              <a:rPr lang="en-US" sz="1800" dirty="0"/>
            </a:br>
            <a:endParaRPr lang="en-US" sz="1800" dirty="0"/>
          </a:p>
          <a:p>
            <a:pPr marL="400050" indent="-285750">
              <a:buFont typeface="Arial" panose="020B0604020202020204" pitchFamily="34" charset="0"/>
              <a:buChar char="•"/>
            </a:pPr>
            <a:r>
              <a:rPr lang="en-US" sz="1800" dirty="0"/>
              <a:t>The AlzaBox button is unresponsive on mobile devices</a:t>
            </a:r>
          </a:p>
          <a:p>
            <a:pPr marL="400050" indent="-285750">
              <a:buFont typeface="Arial" panose="020B0604020202020204" pitchFamily="34" charset="0"/>
              <a:buChar char="•"/>
            </a:pPr>
            <a:r>
              <a:rPr lang="en-US" sz="1800" dirty="0"/>
              <a:t>Tapping it does not produce any indicator that it is not functioning properly</a:t>
            </a:r>
          </a:p>
          <a:p>
            <a:pPr marL="4000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400050" indent="-285750">
              <a:buFont typeface="Arial" panose="020B0604020202020204" pitchFamily="34" charset="0"/>
              <a:buChar char="•"/>
            </a:pPr>
            <a:r>
              <a:rPr lang="en-US" sz="1800" dirty="0"/>
              <a:t>Heuristic: A01 Feedback</a:t>
            </a:r>
          </a:p>
        </p:txBody>
      </p:sp>
      <p:pic>
        <p:nvPicPr>
          <p:cNvPr id="12" name="Inhaltsplatzhalter 11" descr="Ein Bild, das Text, Screenshot, Multimedia, Software enthält.&#10;&#10;KI-generierte Inhalte können fehlerhaft sein.">
            <a:extLst>
              <a:ext uri="{FF2B5EF4-FFF2-40B4-BE49-F238E27FC236}">
                <a16:creationId xmlns:a16="http://schemas.microsoft.com/office/drawing/2014/main" id="{BE50D722-B39F-9DC6-E6A9-E39B0FE665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7368" y="163758"/>
            <a:ext cx="3041511" cy="6530483"/>
          </a:xfrm>
        </p:spPr>
      </p:pic>
    </p:spTree>
    <p:extLst>
      <p:ext uri="{BB962C8B-B14F-4D97-AF65-F5344CB8AC3E}">
        <p14:creationId xmlns:p14="http://schemas.microsoft.com/office/powerpoint/2010/main" val="1826864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AE721-E4F5-A2E9-AF29-B9F525B8F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D147F960-3513-C7B9-B251-83A9E709E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T"/>
          </a:p>
        </p:txBody>
      </p:sp>
      <p:pic>
        <p:nvPicPr>
          <p:cNvPr id="3" name="sj-neg13-alzabox-button-no-feedback">
            <a:hlinkClick r:id="" action="ppaction://media"/>
            <a:extLst>
              <a:ext uri="{FF2B5EF4-FFF2-40B4-BE49-F238E27FC236}">
                <a16:creationId xmlns:a16="http://schemas.microsoft.com/office/drawing/2014/main" id="{FF07FF9D-7A24-83C4-156B-CCE49E5071FA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12230" y="0"/>
            <a:ext cx="3167539" cy="6858000"/>
          </a:xfrm>
        </p:spPr>
      </p:pic>
    </p:spTree>
    <p:extLst>
      <p:ext uri="{BB962C8B-B14F-4D97-AF65-F5344CB8AC3E}">
        <p14:creationId xmlns:p14="http://schemas.microsoft.com/office/powerpoint/2010/main" val="1624878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58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B9379-8FB8-7385-502E-38ED84D5A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C30CC0-A832-D1FF-0EAD-DDDB0E71C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Negative Finding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Mean: 3,25</a:t>
            </a:r>
            <a:endParaRPr lang="en-US" sz="3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01C1313-6136-0416-B49C-5A47838A3B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1480" y="2684095"/>
            <a:ext cx="4443154" cy="3492868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800" b="1" dirty="0"/>
              <a:t>Full-Screen popup shortly after loading site</a:t>
            </a:r>
            <a:br>
              <a:rPr lang="en-US" sz="1800" dirty="0"/>
            </a:br>
            <a:endParaRPr lang="en-US" sz="1800" dirty="0"/>
          </a:p>
          <a:p>
            <a:pPr marL="400050" indent="-285750">
              <a:buFont typeface="Arial" panose="020B0604020202020204" pitchFamily="34" charset="0"/>
              <a:buChar char="•"/>
            </a:pPr>
            <a:r>
              <a:rPr lang="en-US" sz="1800" dirty="0"/>
              <a:t>Shortly after loading the page, a pop-up blocking the entire screen appears</a:t>
            </a:r>
          </a:p>
          <a:p>
            <a:pPr marL="400050" indent="-285750">
              <a:buFont typeface="Arial" panose="020B0604020202020204" pitchFamily="34" charset="0"/>
              <a:buChar char="•"/>
            </a:pPr>
            <a:r>
              <a:rPr lang="en-US" sz="1800" dirty="0"/>
              <a:t>The pop-up also blocks the entire cookie consent banner</a:t>
            </a:r>
          </a:p>
          <a:p>
            <a:pPr marL="4000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400050" indent="-285750">
              <a:buFont typeface="Arial" panose="020B0604020202020204" pitchFamily="34" charset="0"/>
              <a:buChar char="•"/>
            </a:pPr>
            <a:r>
              <a:rPr lang="en-US" sz="1800" dirty="0"/>
              <a:t>Heuristic: A08 Aesthetic and Minimalist Design</a:t>
            </a:r>
          </a:p>
          <a:p>
            <a:pPr marL="400050" indent="-285750">
              <a:buFont typeface="Arial" panose="020B0604020202020204" pitchFamily="34" charset="0"/>
              <a:buChar char="•"/>
            </a:pPr>
            <a:r>
              <a:rPr lang="en-US" sz="1800" dirty="0"/>
              <a:t>Only when: Loading for the first time, potentially also after a certain time</a:t>
            </a:r>
          </a:p>
        </p:txBody>
      </p:sp>
      <p:pic>
        <p:nvPicPr>
          <p:cNvPr id="6" name="Inhaltsplatzhalter 5" descr="Ein Bild, das Text, Screenshot, Betriebssystem, Multimedia enthält.&#10;&#10;KI-generierte Inhalte können fehlerhaft sein.">
            <a:extLst>
              <a:ext uri="{FF2B5EF4-FFF2-40B4-BE49-F238E27FC236}">
                <a16:creationId xmlns:a16="http://schemas.microsoft.com/office/drawing/2014/main" id="{49F09A8C-EDC7-D66F-8541-1F3C1B421A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1915" y="146304"/>
            <a:ext cx="3076633" cy="6553775"/>
          </a:xfrm>
        </p:spPr>
      </p:pic>
    </p:spTree>
    <p:extLst>
      <p:ext uri="{BB962C8B-B14F-4D97-AF65-F5344CB8AC3E}">
        <p14:creationId xmlns:p14="http://schemas.microsoft.com/office/powerpoint/2010/main" val="2013765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E07C2-30E4-8816-F0AB-E5DBE9F74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B32FFB78-6724-03E9-4D31-1E8D98A27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C19A995-D166-311F-75EA-2EFA3D5A9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T" dirty="0"/>
          </a:p>
        </p:txBody>
      </p:sp>
      <p:pic>
        <p:nvPicPr>
          <p:cNvPr id="2" name="sj-neg01-fullscreen-popup">
            <a:hlinkClick r:id="" action="ppaction://media"/>
            <a:extLst>
              <a:ext uri="{FF2B5EF4-FFF2-40B4-BE49-F238E27FC236}">
                <a16:creationId xmlns:a16="http://schemas.microsoft.com/office/drawing/2014/main" id="{218CA590-B2C6-D0C5-C251-10729386B15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12182" y="0"/>
            <a:ext cx="31676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982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37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353</Words>
  <Application>Microsoft Office PowerPoint</Application>
  <PresentationFormat>Breedbeeld</PresentationFormat>
  <Paragraphs>52</Paragraphs>
  <Slides>12</Slides>
  <Notes>0</Notes>
  <HiddenSlides>0</HiddenSlides>
  <MMClips>3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</vt:lpstr>
      <vt:lpstr>Thinking Aloud Test of alza.at</vt:lpstr>
      <vt:lpstr>Evaluation Methodology</vt:lpstr>
      <vt:lpstr>Evaluation Environments</vt:lpstr>
      <vt:lpstr>Positive Finding Mean: 3,25</vt:lpstr>
      <vt:lpstr>Positive Finding Mean: 3,00</vt:lpstr>
      <vt:lpstr>Negative Finding Mean: 3,50 </vt:lpstr>
      <vt:lpstr>PowerPoint-presentatie</vt:lpstr>
      <vt:lpstr>Negative Finding Mean: 3,50</vt:lpstr>
      <vt:lpstr>Negative Finding Mean: 3,25</vt:lpstr>
      <vt:lpstr>PowerPoint-presentatie</vt:lpstr>
      <vt:lpstr>Negative Finding Mean: 3,25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Fabian Mehedincu</dc:creator>
  <cp:lastModifiedBy>Sven Jansen</cp:lastModifiedBy>
  <cp:revision>16</cp:revision>
  <dcterms:created xsi:type="dcterms:W3CDTF">2026-04-21T18:00:33Z</dcterms:created>
  <dcterms:modified xsi:type="dcterms:W3CDTF">2026-05-20T08:52:38Z</dcterms:modified>
</cp:coreProperties>
</file>